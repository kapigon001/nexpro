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游ゴシック"/>
              </a:rPr>
              <a:t>ネクプロ 全社戦略提案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CCEE"/>
                </a:solidFill>
                <a:latin typeface="游ゴシック"/>
              </a:rPr>
              <a:t>ウェビナーツールから B2B エンゲージメント・インテリジェンス基盤へ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CC"/>
                </a:solidFill>
                <a:latin typeface="游ゴシック"/>
              </a:rPr>
              <a:t>対象期間：2026-2028（0-36ヶ月）  |  経営層・マネージャーMTG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338328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5BA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3383280" cy="54864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913A"/>
                </a:solidFill>
                <a:latin typeface="游ゴシック"/>
              </a:rPr>
              <a:t>Decision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游ゴシック"/>
              </a:rPr>
              <a:t>資源配分の決定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游ゴシック"/>
              </a:rPr>
              <a:t>プロダクト45% / GTM35% / 組織20%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3474720"/>
            <a:ext cx="338328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5BA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3474720"/>
            <a:ext cx="3383280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3657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913A"/>
                </a:solidFill>
                <a:latin typeface="游ゴシック"/>
              </a:rPr>
              <a:t>Decision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977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游ゴシック"/>
              </a:rPr>
              <a:t>ポジショニング転換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4480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游ゴシック"/>
              </a:rPr>
              <a:t>ウェビナーツール→エンゲージメント基盤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474720"/>
            <a:ext cx="338328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5BA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3474720"/>
            <a:ext cx="3383280" cy="54864"/>
          </a:xfrm>
          <a:prstGeom prst="rect">
            <a:avLst/>
          </a:prstGeom>
          <a:solidFill>
            <a:srgbClr val="5B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657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913A"/>
                </a:solidFill>
                <a:latin typeface="游ゴシック"/>
              </a:rPr>
              <a:t>Decision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977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游ゴシック"/>
              </a:rPr>
              <a:t>組織再編の承認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480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游ゴシック"/>
              </a:rPr>
              <a:t>PMM/RevOps新設・KPIオーナー制度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4045"/>
                </a:solidFill>
                <a:latin typeface="游ゴシック"/>
              </a:rPr>
              <a:t>CONFIDENTIAL — 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64008" cy="50292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游ゴシック"/>
              </a:rPr>
              <a:t>エグゼクティブサマリー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游ゴシック"/>
              </a:rPr>
              <a:t>結論 — 「配信ツール」に留まれば死ぬ。「データ基盤」に転換すれば勝てる。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1/20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515600" cy="59436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1B2A4A"/>
                </a:solidFill>
                <a:latin typeface="游ゴシック"/>
              </a:rPr>
              <a:t>  Key Message:  ネクプロは「ウェビナーツール」→「B2Bエンゲージメント・インテリジェンス基盤」への転換を今すぐ決断すべき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1168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320040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游ゴシック"/>
                        </a:rPr>
                        <a:t>項目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游ゴシック"/>
                        </a:rPr>
                        <a:t>現状（FY24実績）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游ゴシック"/>
                        </a:rPr>
                        <a:t>目標（FY27計画）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游ゴシック"/>
                        </a:rPr>
                        <a:t>変化率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事業定義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ウェビナー配信ツール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エンゲージメント基盤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売上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¥512M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¥1,382M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+170%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MRR（年間）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¥287M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¥526M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+83%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ARPA（長期PF）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¥148K/月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¥204K/月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+38%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月次解約率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1.7%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1.0%（目標）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−0.7pt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長期PFアカウント数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167社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210社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+26%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新収益柱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なし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¥378M（全体27%）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1B2A4A"/>
                </a:solidFill>
                <a:latin typeface="游ゴシック"/>
              </a:rPr>
              <a:t>根拠: 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AIエージェント時代にUI中心SaaSの中間層は圧縮 / 日本ウェビナーSaaSはAI統合で12-18ヶ月遅れ → 先行者優位の猶予あり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D64045"/>
                </a:solidFill>
                <a:latin typeface="游ゴシック"/>
              </a:rPr>
              <a:t>反証リスク: 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30名体制での転換実行力 / 新収益柱（営業DX ¥327M）は未実証の仮説値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64008" cy="50292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游ゴシック"/>
              </a:rPr>
              <a:t>外部環境：AIエージェント時代の産業変化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游ゴシック"/>
              </a:rPr>
              <a:t>SaaS中間層の圧縮 — AIエージェントが変えるソフトウェア産業の構造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2/20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515600" cy="59436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1B2A4A"/>
                </a:solidFill>
                <a:latin typeface="游ゴシック"/>
              </a:rPr>
              <a:t>  Key Message:  AIエージェントはSaaSの「UIレイヤー」を不要にするが、「データレイヤー」の価値は増大する</a:t>
            </a:r>
          </a:p>
        </p:txBody>
      </p:sp>
      <p:pic>
        <p:nvPicPr>
          <p:cNvPr id="8" name="Picture 7" descr="saas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5943600" cy="35384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913A"/>
                </a:solidFill>
                <a:latin typeface="游ゴシック"/>
              </a:rPr>
              <a:t>$2,850億（42兆円）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68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SaaS株時価総額消失
（2026.2 Claude Cowork発表後）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154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913A"/>
                </a:solidFill>
                <a:latin typeface="游ゴシック"/>
              </a:rPr>
              <a:t>−43%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5204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バーティカルSaaS年初来下落率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913A"/>
                </a:solidFill>
                <a:latin typeface="游ゴシック"/>
              </a:rPr>
              <a:t>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572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シートベース→成果ベース課金移行
（2028年まで、IDC予測）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257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913A"/>
                </a:solidFill>
                <a:latin typeface="游ゴシック"/>
              </a:rPr>
              <a:t>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623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日本のSaaS浸透率（米国15-18%）
→ 構造的参入障壁＝時間稼ぎ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1B2A4A"/>
                </a:solidFill>
                <a:latin typeface="游ゴシック"/>
              </a:rPr>
              <a:t>ネクプロへの示唆: 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配信機能 = battlegrounds（蚕食領域） / エンゲージメントデータ = gold mines（価値増大領域）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64008" cy="50292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游ゴシック"/>
              </a:rPr>
              <a:t>自社現状①：売上推移と構成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游ゴシック"/>
              </a:rPr>
              <a:t>MRRは安定するも成長率は鈍化。新収益柱の立ち上げが急務。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3/20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515600" cy="59436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1B2A4A"/>
                </a:solidFill>
                <a:latin typeface="游ゴシック"/>
              </a:rPr>
              <a:t>  Key Message:  FY24成長率+3.1%に急減速。¥1B突破には新収益柱（営業DX・コンパウンド）の成功が不可欠</a:t>
            </a:r>
          </a:p>
        </p:txBody>
      </p:sp>
      <p:pic>
        <p:nvPicPr>
          <p:cNvPr id="8" name="Picture 7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6400800" cy="39271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游ゴシック"/>
              </a:rPr>
              <a:t>FY27売上構成（計画）</a:t>
            </a:r>
          </a:p>
          <a:p>
            <a:pPr>
              <a:spcAft>
                <a:spcPts val="200"/>
              </a:spcAft>
            </a:pPr>
            <a:r>
              <a:rPr sz="600" b="0" i="0">
                <a:solidFill>
                  <a:srgbClr val="1B2A4A"/>
                </a:solidFill>
                <a:latin typeface="游ゴシック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2E6DA4"/>
                </a:solidFill>
                <a:latin typeface="游ゴシック"/>
              </a:rPr>
              <a:t>MRR（システム利用料）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4A4A4A"/>
                </a:solidFill>
                <a:latin typeface="游ゴシック"/>
              </a:rPr>
              <a:t>  ¥527M（38%）</a:t>
            </a:r>
          </a:p>
          <a:p>
            <a:pPr>
              <a:spcAft>
                <a:spcPts val="200"/>
              </a:spcAft>
            </a:pPr>
            <a:r>
              <a:rPr sz="400" b="0" i="0">
                <a:solidFill>
                  <a:srgbClr val="1B2A4A"/>
                </a:solidFill>
                <a:latin typeface="游ゴシック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5BA4CF"/>
                </a:solidFill>
                <a:latin typeface="游ゴシック"/>
              </a:rPr>
              <a:t>オプションサービス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4A4A4A"/>
                </a:solidFill>
                <a:latin typeface="游ゴシック"/>
              </a:rPr>
              <a:t>  ¥478M（35%）</a:t>
            </a:r>
          </a:p>
          <a:p>
            <a:pPr>
              <a:spcAft>
                <a:spcPts val="200"/>
              </a:spcAft>
            </a:pPr>
            <a:r>
              <a:rPr sz="400" b="0" i="0">
                <a:solidFill>
                  <a:srgbClr val="1B2A4A"/>
                </a:solidFill>
                <a:latin typeface="游ゴシック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E8913A"/>
                </a:solidFill>
                <a:latin typeface="游ゴシック"/>
              </a:rPr>
              <a:t>営業DX（新規）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D64045"/>
                </a:solidFill>
                <a:latin typeface="游ゴシック"/>
              </a:rPr>
              <a:t>  ¥327M（24%） ← 未実証・最大リスク</a:t>
            </a:r>
          </a:p>
          <a:p>
            <a:pPr>
              <a:spcAft>
                <a:spcPts val="200"/>
              </a:spcAft>
            </a:pPr>
            <a:r>
              <a:rPr sz="400" b="0" i="0">
                <a:solidFill>
                  <a:srgbClr val="1B2A4A"/>
                </a:solidFill>
                <a:latin typeface="游ゴシック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E8913A"/>
                </a:solidFill>
                <a:latin typeface="游ゴシック"/>
              </a:rPr>
              <a:t>コンパウンド（新規）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4A4A4A"/>
                </a:solidFill>
                <a:latin typeface="游ゴシック"/>
              </a:rPr>
              <a:t>  ¥51M（4%）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1B2A4A"/>
                </a:solidFill>
                <a:latin typeface="游ゴシック"/>
              </a:rPr>
              <a:t/>
            </a:r>
          </a:p>
          <a:p>
            <a:pPr>
              <a:spcAft>
                <a:spcPts val="200"/>
              </a:spcAft>
            </a:pPr>
            <a:r>
              <a:rPr sz="900" b="1" i="0">
                <a:solidFill>
                  <a:srgbClr val="D64045"/>
                </a:solidFill>
                <a:latin typeface="游ゴシック"/>
              </a:rPr>
              <a:t>※ 営業DXがFY27計画の24%を占める。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D64045"/>
                </a:solidFill>
                <a:latin typeface="游ゴシック"/>
              </a:rPr>
              <a:t>  この実行リスクが全計画の成否を左右。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64008" cy="50292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游ゴシック"/>
              </a:rPr>
              <a:t>自社現状②：SaaS KPI分析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游ゴシック"/>
              </a:rPr>
              <a:t>ARPA改善は順調だが、解約率は依然「バケツの穴」状態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4/20</a:t>
            </a:r>
          </a:p>
        </p:txBody>
      </p:sp>
      <p:pic>
        <p:nvPicPr>
          <p:cNvPr id="7" name="Picture 6" descr="mrr_ar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669280" cy="2908369"/>
          </a:xfrm>
          <a:prstGeom prst="rect">
            <a:avLst/>
          </a:prstGeom>
        </p:spPr>
      </p:pic>
      <p:pic>
        <p:nvPicPr>
          <p:cNvPr id="8" name="Picture 7" descr="churn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5669280" cy="2906102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5720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1645920"/>
                <a:gridCol w="1645920"/>
                <a:gridCol w="3566160"/>
              </a:tblGrid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KPI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FY23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FY24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FY25計画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評価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長期PFアカウント数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151社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167社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179社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○ 回復傾向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ARPA長期PF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¥138K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¥148K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¥169K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○ 改善中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月次解約率（長期）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2.3%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1.7%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1.0%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△ 要改善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新規成約数/年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27社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50社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38社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○ FY24回復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成約率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9.5%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10.5%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△ 業界並み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61258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年換算解約率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24.5%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18.5%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11.3%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× SaaS優良=5%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64008" cy="50292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游ゴシック"/>
              </a:rPr>
              <a:t>自社現状③：顧客基盤と新収益柱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游ゴシック"/>
              </a:rPr>
              <a:t>アカウント数は回復基調。新規事業は急成長を前提とした計画。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5/20</a:t>
            </a:r>
          </a:p>
        </p:txBody>
      </p:sp>
      <p:pic>
        <p:nvPicPr>
          <p:cNvPr id="7" name="Picture 6" descr="ac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669280" cy="2937631"/>
          </a:xfrm>
          <a:prstGeom prst="rect">
            <a:avLst/>
          </a:prstGeom>
        </p:spPr>
      </p:pic>
      <p:pic>
        <p:nvPicPr>
          <p:cNvPr id="8" name="Picture 7" descr="new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5943600" cy="33202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1B2A4A"/>
                </a:solidFill>
                <a:latin typeface="游ゴシック"/>
              </a:rPr>
              <a:t>課題仮説: 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① 利用深度のばらつき（上位/下位の格差大）  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② 受注後オンボーディングの再現性不足  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③ 高単価化のストーリー不足（データ活用→成果証明の接続が弱い）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64008" cy="50292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游ゴシック"/>
              </a:rPr>
              <a:t>戦略的SWOT分析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游ゴシック"/>
              </a:rPr>
              <a:t>「データモート」が唯一の持続的優位性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6/20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2377440"/>
          </a:xfrm>
          <a:prstGeom prst="roundRect">
            <a:avLst/>
          </a:prstGeom>
          <a:solidFill>
            <a:srgbClr val="F8F9FB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984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游ゴシック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ITreview 13期連続受賞の製品品質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84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Salesforce深度統合（Agentforce国内最先行）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323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400-500社のエンタープライズ顧客基盤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797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日本語運用ノウハウ・伴走支援体制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272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擬似ライブ配信・メディアサイトビルダー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280160"/>
            <a:ext cx="5486400" cy="2377440"/>
          </a:xfrm>
          <a:prstGeom prst="roundRect">
            <a:avLst/>
          </a:prstGeom>
          <a:solidFill>
            <a:srgbClr val="F8F9FB"/>
          </a:solidFill>
          <a:ln w="19050">
            <a:solidFill>
              <a:srgbClr val="D64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280160"/>
            <a:ext cx="5486400" cy="365760"/>
          </a:xfrm>
          <a:prstGeom prst="rect">
            <a:avLst/>
          </a:prstGeom>
          <a:solidFill>
            <a:srgbClr val="D64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2984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游ゴシック"/>
              </a:rPr>
              <a:t>Weaknesses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30名の少数体制（開発速度限界）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084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総調達額¥7.5億（資金格差大）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323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ブランド認知度（Zoom/V-CUBEに劣後）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7797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インテントデータ未整備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1272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PMM/RevOps機能の不在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40480"/>
            <a:ext cx="5486400" cy="2377440"/>
          </a:xfrm>
          <a:prstGeom prst="roundRect">
            <a:avLst/>
          </a:prstGeom>
          <a:solidFill>
            <a:srgbClr val="F8F9FB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8587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游ゴシック"/>
              </a:rPr>
              <a:t>Opportunities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97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日本ウェビナーSaaSのAI統合12-18ヶ月遅れ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45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ON24 Cvent買収→日本優先度低下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92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Cookie廃止→1stパーティデータ価値増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00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日本B2B DX余地（SaaS浸透率4%）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687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企業あたりウェビナー数急増（13→47回/年）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486400" cy="2377440"/>
          </a:xfrm>
          <a:prstGeom prst="roundRect">
            <a:avLst/>
          </a:prstGeom>
          <a:solidFill>
            <a:srgbClr val="F8F9FB"/>
          </a:solidFill>
          <a:ln w="1905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5486400" cy="36576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8587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游ゴシック"/>
              </a:rPr>
              <a:t>Threats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297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Zoom/Webex/TeamsのAIエージェント搭載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645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AIによる配信機能のコモディティ化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992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Cvent大型統合（ON24+Goldcast ¥700億）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3400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価格競争の激化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687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汎用AIで差別化希薄化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64008" cy="50292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游ゴシック"/>
              </a:rPr>
              <a:t>競合比較表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游ゴシック"/>
              </a:rPr>
              <a:t>5社×7軸の定量・定性比較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7/20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515600" cy="59436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1B2A4A"/>
                </a:solidFill>
                <a:latin typeface="游ゴシック"/>
              </a:rPr>
              <a:t>  Key Message:  グローバル勢は日本適合が弱く、国内勢はデータ活用が弱い → 両方持てば唯一の存在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10312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463040"/>
                <a:gridCol w="1828800"/>
                <a:gridCol w="1463040"/>
                <a:gridCol w="1463040"/>
                <a:gridCol w="155448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評価軸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ネクプロ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Zoom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ON24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EventHub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bizibl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FanGrowth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配信品質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◎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◎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○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○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○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△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MA/CRM連携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◎ SF深度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○ API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◎ Eloqua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△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△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△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日本語適合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◎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△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△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◎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◎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◎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データ分析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○ (発展余地)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△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◎ 40-50pt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△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△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△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AI機能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○ Agentforce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○ AI Comp.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◎ ACE AI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△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△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△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価格柔軟性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◎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○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△ 高額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○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◎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◎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支援体制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◎ 伴走型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△ セルフ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○ 海外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○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○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◎ 運用代行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1B2A4A"/>
                </a:solidFill>
                <a:latin typeface="游ゴシック"/>
              </a:rPr>
              <a:t>示唆: 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ネクプロは「日本企業適合 × データ活用」で空白ポジションを獲得可能。ON24のCvent買収で日本市場投資が後退する今がチャンス。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64008" cy="50292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游ゴシック"/>
              </a:rPr>
              <a:t>Positioning Map 1: 機能深度 × 日本企業適合性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游ゴシック"/>
              </a:rPr>
              <a:t>右上象限（高機能×高適合）にネクプロを再配置する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8/20</a:t>
            </a:r>
          </a:p>
        </p:txBody>
      </p:sp>
      <p:pic>
        <p:nvPicPr>
          <p:cNvPr id="7" name="Picture 6" descr="positioning_ma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57239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B2A4A"/>
                </a:solidFill>
                <a:latin typeface="游ゴシック"/>
              </a:rPr>
              <a:t>戦略意図</a:t>
            </a:r>
          </a:p>
          <a:p>
            <a:pPr>
              <a:spcAft>
                <a:spcPts val="200"/>
              </a:spcAft>
            </a:pPr>
            <a:r>
              <a:rPr sz="600" b="0" i="0">
                <a:solidFill>
                  <a:srgbClr val="1B2A4A"/>
                </a:solidFill>
                <a:latin typeface="游ゴシック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2E6DA4"/>
                </a:solidFill>
                <a:latin typeface="游ゴシック"/>
              </a:rPr>
              <a:t>現在：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機能は中程度、日本適合性は高い。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しかしデータ分析・AI実行力でON24に劣後。</a:t>
            </a:r>
          </a:p>
          <a:p>
            <a:pPr>
              <a:spcAft>
                <a:spcPts val="200"/>
              </a:spcAft>
            </a:pPr>
            <a:r>
              <a:rPr sz="600" b="0" i="0">
                <a:solidFill>
                  <a:srgbClr val="1B2A4A"/>
                </a:solidFill>
                <a:latin typeface="游ゴシック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E8913A"/>
                </a:solidFill>
                <a:latin typeface="游ゴシック"/>
              </a:rPr>
              <a:t>目標：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エンゲージメントスコア＋AIコンテンツ生成で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機能深度を引き上げ、右上象限を占有。</a:t>
            </a:r>
          </a:p>
          <a:p>
            <a:pPr>
              <a:spcAft>
                <a:spcPts val="200"/>
              </a:spcAft>
            </a:pPr>
            <a:r>
              <a:rPr sz="600" b="0" i="0">
                <a:solidFill>
                  <a:srgbClr val="1B2A4A"/>
                </a:solidFill>
                <a:latin typeface="游ゴシック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Zoom/ON24は日本適合性を短期に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改善することが困難（構造的障壁）。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1B2A4A"/>
                </a:solidFill>
                <a:latin typeface="游ゴシック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E8913A"/>
                </a:solidFill>
                <a:latin typeface="游ゴシック"/>
              </a:rPr>
              <a:t>→ 「日本×高機能」は空白ポジション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64008" cy="50292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游ゴシック"/>
              </a:rPr>
              <a:t>Positioning Map 2: データ活用高度性 × 導入ハードル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游ゴシック"/>
              </a:rPr>
              <a:t>Sweet Spot = 高データ活用 × 低導入ハードル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9/20</a:t>
            </a:r>
          </a:p>
        </p:txBody>
      </p:sp>
      <p:pic>
        <p:nvPicPr>
          <p:cNvPr id="7" name="Picture 6" descr="positioning_ma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57239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B2A4A"/>
                </a:solidFill>
                <a:latin typeface="游ゴシック"/>
              </a:rPr>
              <a:t>Sweet Spot戦略</a:t>
            </a:r>
          </a:p>
          <a:p>
            <a:pPr>
              <a:spcAft>
                <a:spcPts val="200"/>
              </a:spcAft>
            </a:pPr>
            <a:r>
              <a:rPr sz="600" b="0" i="0">
                <a:solidFill>
                  <a:srgbClr val="1B2A4A"/>
                </a:solidFill>
                <a:latin typeface="游ゴシック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ON24は高データ活用だが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導入ハードルも高い（英語・高額・海外対応）。</a:t>
            </a:r>
          </a:p>
          <a:p>
            <a:pPr>
              <a:spcAft>
                <a:spcPts val="200"/>
              </a:spcAft>
            </a:pPr>
            <a:r>
              <a:rPr sz="600" b="0" i="0">
                <a:solidFill>
                  <a:srgbClr val="1B2A4A"/>
                </a:solidFill>
                <a:latin typeface="游ゴシック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E8913A"/>
                </a:solidFill>
                <a:latin typeface="游ゴシック"/>
              </a:rPr>
              <a:t>ネクプロの差別化：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• テンプレートによる即時活用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• 伴走型CSによるオンボーディング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• Salesforceネイティブ連携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• 日本語完全対応</a:t>
            </a:r>
          </a:p>
          <a:p>
            <a:pPr>
              <a:spcAft>
                <a:spcPts val="200"/>
              </a:spcAft>
            </a:pPr>
            <a:r>
              <a:rPr sz="600" b="0" i="0">
                <a:solidFill>
                  <a:srgbClr val="1B2A4A"/>
                </a:solidFill>
                <a:latin typeface="游ゴシック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E8913A"/>
                </a:solidFill>
                <a:latin typeface="游ゴシック"/>
              </a:rPr>
              <a:t>→ データ活用を高めつつ</a:t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E8913A"/>
                </a:solidFill>
                <a:latin typeface="游ゴシック"/>
              </a:rPr>
              <a:t>  導入障壁を下げる「両立」が勝ち筋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64008" cy="50292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游ゴシック"/>
              </a:rPr>
              <a:t>重要課題のMECE整理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游ゴシック"/>
              </a:rPr>
              <a:t>6視点×緊急度×インパクト×難易度で全社課題を構造化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10/20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515600" cy="59436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1B2A4A"/>
                </a:solidFill>
                <a:latin typeface="游ゴシック"/>
              </a:rPr>
              <a:t>  Key Message:  最優先は「プロダクトのデータ基盤化」と「解約率の改善」。この2つが全戦略の基盤。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1031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029200"/>
                <a:gridCol w="1371600"/>
                <a:gridCol w="1828800"/>
                <a:gridCol w="1645920"/>
              </a:tblGrid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視点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課題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緊急度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インパクト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難易度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市場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AI時代の事業価値再定義の遅れ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高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大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中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顧客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成果指標（商談化）までの接続が弱い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高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大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中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プロダクト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エンゲージメントスコアリング未実装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高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大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中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プロダクト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AIコンテンツ自動生成の未実装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中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中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中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GTM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業種別提案テンプレートの不足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高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中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低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GTM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CSがコストセンターのまま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中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大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中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組織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PMM機能の不在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高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大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中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組織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30名体制の人材ボトルネック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高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大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高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財務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新収益柱の実行リスク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高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大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高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財務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LTV拡張余地（クロスセル不足）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中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大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中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64008" cy="50292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游ゴシック"/>
              </a:rPr>
              <a:t>戦略オプション比較（3案）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游ゴシック"/>
              </a:rPr>
              <a:t>守るか、備えるか、攻めるか — 3つの道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11/20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566160" cy="4572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66160" cy="64008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游ゴシック"/>
              </a:rPr>
              <a:t>梅：防衛型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游ゴシック"/>
              </a:rPr>
              <a:t>既存事業の効率最大化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投資: 現行水準維持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791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FY27: ¥740M（仮説）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181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プロダクト: 既存改善のみ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570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GTM: 現行体制効率化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959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組織: 変更なし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リスク: 低（短期）→高（中長期）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73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リターン: 低（縮小均衡）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63040"/>
            <a:ext cx="3566160" cy="4572000"/>
          </a:xfrm>
          <a:prstGeom prst="roundRect">
            <a:avLst/>
          </a:prstGeom>
          <a:solidFill>
            <a:srgbClr val="F8F9FB"/>
          </a:solidFill>
          <a:ln w="254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463040"/>
            <a:ext cx="3566160" cy="6400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4813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游ゴシック"/>
              </a:rPr>
              <a:t>竹：均衡型 ★推奨起点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1783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游ゴシック"/>
              </a:rPr>
              <a:t>既存深耕＋データ機能拡張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投資: +30-50%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6791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FY27: ¥930M（仮説）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1181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プロダクト: スコアMVP+AI要約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5570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GTM: 業種別PKG+CS高度化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9959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組織: PMM兼務設置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リスク: 中（実行力分散）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873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リターン: 中（持続成長軌道）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463040"/>
            <a:ext cx="3566160" cy="4572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89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1463040"/>
            <a:ext cx="3566160" cy="64008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14813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游ゴシック"/>
              </a:rPr>
              <a:t>松：攻勢型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1783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游ゴシック"/>
              </a:rPr>
              <a:t>基盤転換＋組織再編＋新収益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投資: +80-100%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6791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FY27: ¥1,385M（計画値）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1181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プロダクト: フルスタック転換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5570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GTM: 新セグメント+価格再設計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9959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組織: PMM/RevOps正式新設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リスク: 高（キャッシュ・混乱）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873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• リターン: 高（市場ポジション確立）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2E6DA4"/>
                </a:solidFill>
                <a:latin typeface="游ゴシック"/>
              </a:rPr>
              <a:t>推奨: 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1B2A4A"/>
                </a:solidFill>
                <a:latin typeface="游ゴシック"/>
              </a:rPr>
              <a:t>「竹」案を6ヶ月で実行し、KPI達成を条件に「松」案へ段階移行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64008" cy="50292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游ゴシック"/>
              </a:rPr>
              <a:t>推奨戦略：「竹」→「松」段階移行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游ゴシック"/>
              </a:rPr>
              <a:t>全力投球ではなく、実績で信頼を獲得しながらギアを上げる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12/20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566160" cy="16459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游ゴシック"/>
              </a:rPr>
              <a:t>Logic 1: キャッシュ耐性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游ゴシック"/>
              </a:rPr>
              <a:t>30名・¥7.5億の企業が全方位投資は自殺行為。
竹案なら+30-50%で既存キャッシュフロー維持可能。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3566160" cy="16459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DA4"/>
                </a:solidFill>
                <a:latin typeface="游ゴシック"/>
              </a:rPr>
              <a:t>Logic 2: 小さく証明→大きく張る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游ゴシック"/>
              </a:rPr>
              <a:t>エンゲージメントスコアMVPを6ヶ月で構築
→ 5社で成果実証 → 本格投資判断。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566160" cy="16459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5BA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A4CF"/>
                </a:solidFill>
                <a:latin typeface="游ゴシック"/>
              </a:rPr>
              <a:t>Logic 3: 組織能力の段階構築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游ゴシック"/>
              </a:rPr>
              <a:t>いきなりPMM/RevOps正式新設は機能しない。
兼務→成果確認→専任化のステップが現実的。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游ゴシック"/>
              </a:rPr>
              <a:t>6ヶ月後 Gate Review 判断基準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65760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  <a:gridCol w="3017520"/>
                <a:gridCol w="292608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游ゴシック"/>
                        </a:rPr>
                        <a:t>KPI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游ゴシック"/>
                        </a:rPr>
                        <a:t>Gate基準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游ゴシック"/>
                        </a:rPr>
                        <a:t>達成→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游ゴシック"/>
                        </a:rPr>
                        <a:t>未達→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スコアMVP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5社以上導入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松案へ移行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竹案延長・修正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月次解約率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1.3%以下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松案へ移行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CS施策見直し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ARPA（長期）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¥160K以上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松案へ移行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価格再検討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営業DX売上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¥15M/半期以上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投資拡大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4A4A"/>
                          </a:solidFill>
                          <a:latin typeface="游ゴシック"/>
                        </a:rPr>
                        <a:t>ピボット検討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64008" cy="50292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游ゴシック"/>
              </a:rPr>
              <a:t>重点施策A：プロダクト（AI/データ基盤）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游ゴシック"/>
              </a:rPr>
              <a:t>エンゲージメントデータを「金鉱」から「製品」に変える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13/20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029200"/>
                <a:gridCol w="1188720"/>
                <a:gridCol w="27432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#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施策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時期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KPI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責任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A1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エンゲージメントスコアMVP
視聴・チャット・Q&amp;A・CTA統合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0-6M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MVP完成→5社導入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プロダクト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A2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Salesforce連携強化
リードスコアリングへのネイティブフィード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0-6M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SF連携ARPA +20%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プロダクト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A3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日本語AIコンテンツ生成
ウェビナー→要約・ブログ・クリップ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6-12M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利用率30%以上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プロダクト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A4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API-firstアーキテクチャ移行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6-18M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API化率80%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CTO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A5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HubSpot/Marketo連携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12-18M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非SF新規20社/年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プロダクト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1B2A4A"/>
                </a:solidFill>
                <a:latin typeface="游ゴシック"/>
              </a:rPr>
              <a:t>根拠（なぜこの順序か）</a:t>
            </a:r>
          </a:p>
          <a:p>
            <a:pPr>
              <a:spcAft>
                <a:spcPts val="200"/>
              </a:spcAft>
            </a:pPr>
            <a:r>
              <a:rPr sz="400" b="0" i="0">
                <a:solidFill>
                  <a:srgbClr val="1B2A4A"/>
                </a:solidFill>
                <a:latin typeface="游ゴシック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• A1が最優先: ON24は参加者あたり40-50データポイントでインテントスコアを構築。AutodeskはパイプラインROI 12倍を達成。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  日本市場ではまだ誰も本格提供していない → 先行者優位。</a:t>
            </a:r>
          </a:p>
          <a:p>
            <a:pPr>
              <a:spcAft>
                <a:spcPts val="200"/>
              </a:spcAft>
            </a:pPr>
            <a:r>
              <a:rPr sz="400" b="0" i="0">
                <a:solidFill>
                  <a:srgbClr val="1B2A4A"/>
                </a:solidFill>
                <a:latin typeface="游ゴシック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• A3は市場実証済み: Goldcastは年間13万件超のAI動画クリップを生成。日本語特化が差別化要因。</a:t>
            </a:r>
          </a:p>
          <a:p>
            <a:pPr>
              <a:spcAft>
                <a:spcPts val="200"/>
              </a:spcAft>
            </a:pPr>
            <a:r>
              <a:rPr sz="400" b="0" i="0">
                <a:solidFill>
                  <a:srgbClr val="1B2A4A"/>
                </a:solidFill>
                <a:latin typeface="游ゴシック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• A5は中期以降: 30名体制で3つのCRM/MA統合を同時開発は不可能。SF深化が先。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64008" cy="50292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游ゴシック"/>
              </a:rPr>
              <a:t>重点施策B：GTM（営業・CS・価格）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游ゴシック"/>
              </a:rPr>
              <a:t>「売り方」と「守り方」を同時に変える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14/20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游ゴシック"/>
              </a:rPr>
              <a:t>営業施策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3736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743200"/>
                <a:gridCol w="822960"/>
                <a:gridCol w="155448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#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施策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時期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KPI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B1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業種別ソリューションPKG（4業種）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0-6M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成約率+5pt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B2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価格体系再設計（3層構造）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6-12M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新規ARPA ¥180K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B3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営業DX事業の立上げ加速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0-12M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FY25 ¥33.4M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B4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SF経由獲得チャネル構築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0-6M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SF経由月2件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A4"/>
                </a:solidFill>
                <a:latin typeface="游ゴシック"/>
              </a:rPr>
              <a:t>CS施策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73736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743200"/>
                <a:gridCol w="822960"/>
                <a:gridCol w="155448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#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施策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時期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KPI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C1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オンボーディング標準化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0-3M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60日完了率90%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C2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ヘルススコア導入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0-6M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予兆検知率70%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C3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CS Profit Center化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6-12M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CS起点¥30M/年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C4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戦略アカウント制（上位20社）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0-6M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上位NRR 120%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4114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1B2A4A"/>
                </a:solidFill>
                <a:latin typeface="游ゴシック"/>
              </a:rPr>
              <a:t>CS Profit Center化の論理</a:t>
            </a:r>
          </a:p>
          <a:p>
            <a:pPr>
              <a:spcAft>
                <a:spcPts val="200"/>
              </a:spcAft>
            </a:pPr>
            <a:r>
              <a:rPr sz="400" b="0" i="0">
                <a:solidFill>
                  <a:srgbClr val="1B2A4A"/>
                </a:solidFill>
                <a:latin typeface="游ゴシック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現状: CSは「解約防止」のコストセンター。成果が見えにくく投資判断が困難。</a:t>
            </a:r>
          </a:p>
          <a:p>
            <a:pPr>
              <a:spcAft>
                <a:spcPts val="200"/>
              </a:spcAft>
            </a:pPr>
            <a:r>
              <a:rPr sz="400" b="0" i="0">
                <a:solidFill>
                  <a:srgbClr val="1B2A4A"/>
                </a:solidFill>
                <a:latin typeface="游ゴシック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転換: 伴走支援を「成果連動型コンサルティング」に再定義。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  • ウェビナー→商談化率の可視化（エンゲージメントスコア連動）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  • 成果レポートの定期提供 → アップセル提案の自然な接点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4A4A4A"/>
                </a:solidFill>
                <a:latin typeface="游ゴシック"/>
              </a:rPr>
              <a:t>  • 目標: CS起点のアップセル売上 ¥30M/年</a:t>
            </a:r>
          </a:p>
          <a:p>
            <a:pPr>
              <a:spcAft>
                <a:spcPts val="200"/>
              </a:spcAft>
            </a:pPr>
            <a:r>
              <a:rPr sz="400" b="0" i="0">
                <a:solidFill>
                  <a:srgbClr val="1B2A4A"/>
                </a:solidFill>
                <a:latin typeface="游ゴシック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D64045"/>
                </a:solidFill>
                <a:latin typeface="游ゴシック"/>
              </a:rPr>
              <a:t>反証リスク: CS人員の「守り」工数を削ると解約率が悪化するリスク → 戦略アカウント制で優先度管理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64008" cy="50292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游ゴシック"/>
              </a:rPr>
              <a:t>重点施策C：組織再編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游ゴシック"/>
              </a:rPr>
              <a:t>30名で勝つための「機能配置」と「採用計画」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15/20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0"/>
                <a:gridCol w="1188720"/>
                <a:gridCol w="3017520"/>
                <a:gridCol w="2011680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#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施策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時期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KPI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游ゴシック"/>
                        </a:rPr>
                        <a:t>責任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D1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PMM機能の兼務設置
市場要件→製品要件の変換パイプライン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0-3M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月次市場要求レポート提出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CEO直轄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D2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RevOps兼務設置
営業/CS/プロダクトKPI統合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3-6M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統合ダッシュボード構築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COO相当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D3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戦略採用（3-5名）
AIエンジニア1+PMM1+CS2+営業DX1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6-12M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採用充足率80%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人事/CEO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D4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KPIオーナー制度導入
各KPIに個人名を紐付け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0-1M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全主要KPI
オーナーアサイン完了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4A4A"/>
                          </a:solidFill>
                          <a:latin typeface="游ゴシック"/>
                        </a:rPr>
                        <a:t>CEO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游ゴシック"/>
              </a:rPr>
              <a:t>組織変革のステップ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828800" cy="11887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游ゴシック"/>
              </a:rPr>
              <a:t>Month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游ゴシック"/>
              </a:rPr>
              <a:t>KPIオーナー
アサイン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06039" y="4937760"/>
            <a:ext cx="274320" cy="32004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4572000"/>
            <a:ext cx="1828800" cy="1188720"/>
          </a:xfrm>
          <a:prstGeom prst="round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4663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游ゴシック"/>
              </a:rPr>
              <a:t>Month 1-3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9377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游ゴシック"/>
              </a:rPr>
              <a:t>PMM兼務
設置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00599" y="4937760"/>
            <a:ext cx="274320" cy="32004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0640" y="4572000"/>
            <a:ext cx="1828800" cy="1188720"/>
          </a:xfrm>
          <a:prstGeom prst="roundRect">
            <a:avLst/>
          </a:prstGeom>
          <a:solidFill>
            <a:srgbClr val="5B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4663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游ゴシック"/>
              </a:rPr>
              <a:t>Month 3-6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9377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游ゴシック"/>
              </a:rPr>
              <a:t>RevOps兼務
設置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95159" y="4937760"/>
            <a:ext cx="274320" cy="32004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199" y="4572000"/>
            <a:ext cx="1828800" cy="1188720"/>
          </a:xfrm>
          <a:prstGeom prst="round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39" y="4663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游ゴシック"/>
              </a:rPr>
              <a:t>Month 6-12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39" y="49377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游ゴシック"/>
              </a:rPr>
              <a:t>戦略採用
3-5名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189718" y="4937760"/>
            <a:ext cx="274320" cy="32004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09760" y="4572000"/>
            <a:ext cx="1828800" cy="1188720"/>
          </a:xfrm>
          <a:prstGeom prst="round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4663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游ゴシック"/>
              </a:rPr>
              <a:t>Month 12+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9377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游ゴシック"/>
              </a:rPr>
              <a:t>専任化
判断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64008" cy="50292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游ゴシック"/>
              </a:rPr>
              <a:t>3層実行ロードマップ（0-36ヶ月）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游ゴシック"/>
              </a:rPr>
              <a:t>止血 → 転換 → 成長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16/20</a:t>
            </a:r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430000" cy="63843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64008" cy="50292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游ゴシック"/>
              </a:rPr>
              <a:t>KPIツリーと経営モニタリング設計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游ゴシック"/>
              </a:rPr>
              <a:t>「測れないものは改善できない」— KPIオーナーを個人名で紐付け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17/20</a:t>
            </a:r>
          </a:p>
        </p:txBody>
      </p:sp>
      <p:pic>
        <p:nvPicPr>
          <p:cNvPr id="7" name="Picture 6" descr="kpi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315200" cy="46113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游ゴシック"/>
              </a:rPr>
              <a:t>ガバナンス体制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0" y="1737360"/>
          <a:ext cx="3931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1828800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游ゴシック"/>
                        </a:rPr>
                        <a:t>会議体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游ゴシック"/>
                        </a:rPr>
                        <a:t>頻度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游ゴシック"/>
                        </a:rPr>
                        <a:t>アジェンダ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経営KPI
レビュー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月次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KPI進捗・逸脱分析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四半期戦略
レビュー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四半期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ロードマップ進捗
方針修正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Gate
Review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M6,12,18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戦略オプション
移行判断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スプリント
レビュー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隔週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開発進捗
優先度見直し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游ゴシック"/>
              </a:rPr>
              <a:t>KPIオーナー（主要）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0" y="4937760"/>
          <a:ext cx="39319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1371600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游ゴシック"/>
                        </a:rPr>
                        <a:t>KPI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游ゴシック"/>
                        </a:rPr>
                        <a:t>目標(FY25)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游ゴシック"/>
                        </a:rPr>
                        <a:t>オーナー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ARR成長率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+27%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CEO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NRR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100%+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CS責任者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ARPA長期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¥169K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営業責任者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解約率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1.0%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CS責任者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営業DX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¥33.4M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DX責任者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64008" cy="50292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游ゴシック"/>
              </a:rPr>
              <a:t>本会議での決議依頼事項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游ゴシック"/>
              </a:rPr>
              <a:t>今日決めなければ、「何もしない」という選択を自動的にしたことになる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18/20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17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游ゴシック"/>
              </a:rPr>
              <a:t>投資配分の承認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91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游ゴシック"/>
              </a:rPr>
              <a:t>プロダクト45% / GTM35% / 組織20%の投資比率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417320"/>
            <a:ext cx="18288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1444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游ゴシック"/>
              </a:rPr>
              <a:t>承認を推奨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331720"/>
            <a:ext cx="502920" cy="502920"/>
          </a:xfrm>
          <a:prstGeom prst="ellipse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3774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游ゴシック"/>
              </a:rPr>
              <a:t>ポジショニング転換の正式承認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651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游ゴシック"/>
              </a:rPr>
              <a:t>「ウェビナーツール」→「B2Bエンゲージメント・インテリジェンス基盤」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377440"/>
            <a:ext cx="1828800" cy="411480"/>
          </a:xfrm>
          <a:prstGeom prst="round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404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游ゴシック"/>
              </a:rPr>
              <a:t>承認を推奨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5B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3375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游ゴシック"/>
              </a:rPr>
              <a:t>組織再編の承認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611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游ゴシック"/>
              </a:rPr>
              <a:t>PMM兼務設置（即時）+ RevOps兼務（3ヶ月後）+ KPIオーナー制度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3337560"/>
            <a:ext cx="1828800" cy="411480"/>
          </a:xfrm>
          <a:prstGeom prst="roundRect">
            <a:avLst/>
          </a:prstGeom>
          <a:solidFill>
            <a:srgbClr val="5B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33649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游ゴシック"/>
              </a:rPr>
              <a:t>承認を推奨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2976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游ゴシック"/>
              </a:rPr>
              <a:t>90日実行計画の承認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572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游ゴシック"/>
              </a:rPr>
              <a:t>短期施策パッケージの着手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4297680"/>
            <a:ext cx="1828800" cy="411480"/>
          </a:xfrm>
          <a:prstGeom prst="round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43251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游ゴシック"/>
              </a:rPr>
              <a:t>承認を推奨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" y="5212080"/>
            <a:ext cx="502920" cy="502920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257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游ゴシック"/>
              </a:rPr>
              <a:t>6ヶ月後Gate Reviewの設定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532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游ゴシック"/>
              </a:rPr>
              <a:t>KPI達成時の松案移行判断プロセス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0" y="5257800"/>
            <a:ext cx="1828800" cy="411480"/>
          </a:xfrm>
          <a:prstGeom prst="round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52852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游ゴシック"/>
              </a:rPr>
              <a:t>承認を推奨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游ゴシック"/>
              </a:rPr>
              <a:t>Next Steps（承認後の即時アクション）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游ゴシック"/>
              </a:rPr>
              <a:t>KPIオーナーアサイン（1週間） → PMM兼務者選定（2週間） → スコアMVP要件定義KO（2週間） → 月次レビュー初回設定（1週間）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64008" cy="50292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游ゴシック"/>
              </a:rPr>
              <a:t>想定Q&amp;A（厳しめの指摘への回答）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游ゴシック"/>
              </a:rPr>
              <a:t>Appendix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CONFIDENTIAL  |  NexPro Inc.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游ゴシック"/>
              </a:rPr>
              <a:t>19/20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16128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114800"/>
                <a:gridCol w="7040880"/>
              </a:tblGrid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游ゴシック"/>
                        </a:rPr>
                        <a:t>#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游ゴシック"/>
                        </a:rPr>
                        <a:t>想定質問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游ゴシック"/>
                        </a:rPr>
                        <a:t>回答要旨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Q1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30名でこの施策量を実行できるか？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竹案で3施策に絞る。全部同時は不可。Gate Reviewで判断。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Q2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結局ウェビナーツールでは？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ON24実証：40-50データpt→ROI12倍。データ構造化が本質的価値。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Q3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営業DX ¥327M(FY27)は現実的か？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¥15M/半期がリトマス試験。未達ならピボット。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Q4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Zoom/Webex/Teamsに勝てるか？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配信では勝てない。日本B2Bファネル最適化で差別化。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Q5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SF依存は危険では？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30名で3CRM同時開発は不可。SF深化→中期でAPI-first→拡張。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Q6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解約率1.0%は達成可能か？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FY22:3.6%→FY24:1.7%と改善中。ヘルススコア+標準化で可能。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Q7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PMM/RevOps兼務で機能するか？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3ヶ月で解像度UP→専任化判断。CEO直轄で工数20%確保。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Q8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FY26-27計画は攻めすぎでは？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竹案¥930Mがベースケース。営業DX未達時のダウンサイド準備要。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Q9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bizibl/FanGrowthとの差別化は？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SF深度統合+データ構造化+Agentforce。ただし6-12ヶ月の猶予。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Q10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ウェビナー市場自体が縮小しない？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>企業ウェビナー数:13→47回/年。ハイブリッド化で需要増大。</a:t>
                      </a:r>
                    </a:p>
                  </a:txBody>
                  <a:tcPr anchor="ctr" marL="50800" marR="50800" marT="25400" marB="25400">
                    <a:solidFill>
                      <a:srgbClr val="F0F4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4A4A4A"/>
                          </a:solidFill>
                          <a:latin typeface="游ゴシック"/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